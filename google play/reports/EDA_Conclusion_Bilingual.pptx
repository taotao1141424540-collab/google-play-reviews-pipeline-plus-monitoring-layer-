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Google Play Reviews — EDA Conclusion (Bilingual)</a:t>
            </a:r>
          </a:p>
          <a:p>
            <a:pPr>
              <a:defRPr sz="2000"/>
            </a:pPr>
            <a:r>
              <a:t>Google Play 评论数据 · 探索性数据分析结论（中英双语）</a:t>
            </a:r>
          </a:p>
          <a:p>
            <a:pPr>
              <a:defRPr sz="1400"/>
            </a:pPr>
            <a:r>
              <a:t>Figures from quality_report.csv + A5_data_scale_chain.csv · 2026-05-05 16:26:06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Executive Summary · 执行摘要</a:t>
            </a:r>
            <a:br/>
            <a:r>
              <a:t>执行摘要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Built an English analysis set of **10,940** reviews (≥10k target met).</a:t>
            </a:r>
          </a:p>
          <a:p>
            <a:pPr>
              <a:defRPr sz="1200"/>
            </a:pPr>
            <a:r>
              <a:t>  构建英文分析集 **10,940** 条，满足 mentor 提出的 **10k+** 规模要求。</a:t>
            </a:r>
          </a:p>
          <a:p>
            <a:pPr>
              <a:spcAft>
                <a:spcPts val="400"/>
              </a:spcAft>
              <a:defRPr sz="1400"/>
            </a:pPr>
            <a:r>
              <a:t>• Completed EDA Sections A–E: distributions, cross-app patterns, language mix, light text, risk flags.</a:t>
            </a:r>
          </a:p>
          <a:p>
            <a:pPr>
              <a:defRPr sz="1200"/>
            </a:pPr>
            <a:r>
              <a:t>  已完成 EDA A–E：分布、跨 App 模式、语言构成、轻量词频、风险标记。</a:t>
            </a:r>
          </a:p>
          <a:p>
            <a:pPr>
              <a:spcAft>
                <a:spcPts val="400"/>
              </a:spcAft>
              <a:defRPr sz="1400"/>
            </a:pPr>
            <a:r>
              <a:t>• Heuristic flags (spam/time) are exploratory — recommend spot-checks before strong claims.</a:t>
            </a:r>
          </a:p>
          <a:p>
            <a:pPr>
              <a:defRPr sz="1200"/>
            </a:pPr>
            <a:r>
              <a:t>  刷评/时间爆发等为启发式指标，强结论前建议抽样复核。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Data volume · 数据规模</a:t>
            </a:r>
            <a:br/>
            <a:r>
              <a:t>数据规模 Data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Raw rows: **16,800** (`google_play_reviews_raw.csv`)</a:t>
            </a:r>
          </a:p>
          <a:p>
            <a:pPr>
              <a:defRPr sz="1200"/>
            </a:pPr>
            <a:r>
              <a:t>  原始数据：**16,800** 行（`google_play_reviews_raw.csv`）</a:t>
            </a:r>
          </a:p>
          <a:p>
            <a:pPr>
              <a:spcAft>
                <a:spcPts val="400"/>
              </a:spcAft>
              <a:defRPr sz="1400"/>
            </a:pPr>
            <a:r>
              <a:t>• After P0 (all languages): **15,290** (`clean_all_languages.csv`)</a:t>
            </a:r>
          </a:p>
          <a:p>
            <a:pPr>
              <a:defRPr sz="1200"/>
            </a:pPr>
            <a:r>
              <a:t>  P0 后全语言：**15,290** 行（`clean_all_languages.csv`）</a:t>
            </a:r>
          </a:p>
          <a:p>
            <a:pPr>
              <a:spcAft>
                <a:spcPts val="400"/>
              </a:spcAft>
              <a:defRPr sz="1400"/>
            </a:pPr>
            <a:r>
              <a:t>• After P0 + English filter: **10,940** (`clean_en_only.csv`)</a:t>
            </a:r>
          </a:p>
          <a:p>
            <a:pPr>
              <a:defRPr sz="1200"/>
            </a:pPr>
            <a:r>
              <a:t>  P0 + 英文子集：**10,940** 行（`clean_en_only.csv`）</a:t>
            </a:r>
          </a:p>
          <a:p>
            <a:pPr>
              <a:spcAft>
                <a:spcPts val="400"/>
              </a:spcAft>
              <a:defRPr sz="1400"/>
            </a:pPr>
            <a:r>
              <a:t>• English share on P0-all-lang set: ~**71.5%** (`is_en` / langdetect)</a:t>
            </a:r>
          </a:p>
          <a:p>
            <a:pPr>
              <a:defRPr sz="1200"/>
            </a:pPr>
            <a:r>
              <a:t>  P0 全语言集中英文占比约 **71.5%**（`is_en` / 语言检测）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Core distributions · 核心分布（A）</a:t>
            </a:r>
            <a:br/>
            <a:r>
              <a:t>核心分布 Core distributions (Section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Rating distribution: see `eda_section_a/A1_*.png` — check skew toward 4–5★.</a:t>
            </a:r>
          </a:p>
          <a:p>
            <a:pPr>
              <a:defRPr sz="1200"/>
            </a:pPr>
            <a:r>
              <a:t>  评分分布：见 `eda_section_a/A1_*.png`，关注是否偏向 4–5 星。</a:t>
            </a:r>
          </a:p>
          <a:p>
            <a:pPr>
              <a:spcAft>
                <a:spcPts val="400"/>
              </a:spcAft>
              <a:defRPr sz="1400"/>
            </a:pPr>
            <a:r>
              <a:t>• Review length: see `A3_*.png` — report mean / median / P90 in the written memo.</a:t>
            </a:r>
          </a:p>
          <a:p>
            <a:pPr>
              <a:defRPr sz="1200"/>
            </a:pPr>
            <a:r>
              <a:t>  评论长度：见 `A3_*.png`，正文报告补充均值/中位数/P90。</a:t>
            </a:r>
          </a:p>
          <a:p>
            <a:pPr>
              <a:spcAft>
                <a:spcPts val="400"/>
              </a:spcAft>
              <a:defRPr sz="1400"/>
            </a:pPr>
            <a:r>
              <a:t>• Length vs rating (boxplot): `A4_*.png` — contrasts short praise vs long complaints.</a:t>
            </a:r>
          </a:p>
          <a:p>
            <a:pPr>
              <a:defRPr sz="1200"/>
            </a:pPr>
            <a:r>
              <a:t>  长度×评分箱线图：`A4_*.png`，可看短好评与长差评差异。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Patterns · 模式（B）</a:t>
            </a:r>
            <a:br/>
            <a:r>
              <a:t>模式 Patterns (Section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Per-app means &amp; heatmaps show category-specific rating behavior (`eda_section_b/`).</a:t>
            </a:r>
          </a:p>
          <a:p>
            <a:pPr>
              <a:defRPr sz="1200"/>
            </a:pPr>
            <a:r>
              <a:t>  按 App 的均值与热力图体现品类差异（`eda_section_b/`）。</a:t>
            </a:r>
          </a:p>
          <a:p>
            <a:pPr>
              <a:spcAft>
                <a:spcPts val="400"/>
              </a:spcAft>
              <a:defRPr sz="1400"/>
            </a:pPr>
            <a:r>
              <a:t>• Daily volume trend flags campaign/version spikes — interpret with product calendar.</a:t>
            </a:r>
          </a:p>
          <a:p>
            <a:pPr>
              <a:defRPr sz="1200"/>
            </a:pPr>
            <a:r>
              <a:t>  日度评论量可对照版本/活动日历解读峰值。</a:t>
            </a:r>
          </a:p>
          <a:p>
            <a:pPr>
              <a:spcAft>
                <a:spcPts val="400"/>
              </a:spcAft>
              <a:defRPr sz="1400"/>
            </a:pPr>
            <a:r>
              <a:t>• Inconsistent rating + duplicate `text_hash` tables support quality triage.</a:t>
            </a:r>
          </a:p>
          <a:p>
            <a:pPr>
              <a:defRPr sz="1200"/>
            </a:pPr>
            <a:r>
              <a:t>  评分-文本粗一致与重复文本表用于质量排查。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Language · 语言（C）</a:t>
            </a:r>
            <a:br/>
            <a:r>
              <a:t>语言 Language (Section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Language mix chart (`eda_section_c/C1_*.png`) justifies the English subset scope.</a:t>
            </a:r>
          </a:p>
          <a:p>
            <a:pPr>
              <a:defRPr sz="1200"/>
            </a:pPr>
            <a:r>
              <a:t>  语言构成图（`eda_section_c/C1_*.png`）用于说明英文子集覆盖范围。</a:t>
            </a:r>
          </a:p>
          <a:p>
            <a:pPr>
              <a:spcAft>
                <a:spcPts val="400"/>
              </a:spcAft>
              <a:defRPr sz="1400"/>
            </a:pPr>
            <a:r>
              <a:t>• Non-English remainder is expected — document limitations for NLP generalization.</a:t>
            </a:r>
          </a:p>
          <a:p>
            <a:pPr>
              <a:defRPr sz="1200"/>
            </a:pPr>
            <a:r>
              <a:t>  非英文部分客观存在，需在报告中写明对泛化的限制。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Text &amp; risks · 文本与风险（D/E）</a:t>
            </a:r>
            <a:br/>
            <a:r>
              <a:t>文本与风险 Text &amp; risks (D /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Top tokens by overall / by star band (`eda_section_d/`) — exploratory, not topic models.</a:t>
            </a:r>
          </a:p>
          <a:p>
            <a:pPr>
              <a:defRPr sz="1200"/>
            </a:pPr>
            <a:r>
              <a:t>  词频与分星级词对比（`eda_section_d/`）为探索性，不等价主题模型。</a:t>
            </a:r>
          </a:p>
          <a:p>
            <a:pPr>
              <a:spcAft>
                <a:spcPts val="400"/>
              </a:spcAft>
              <a:defRPr sz="1400"/>
            </a:pPr>
            <a:r>
              <a:t>• `is_spam_bot_suspect` &amp; `is_time_anomaly` (`eda_section_e/`) — heuristic; sample before claiming abuse.</a:t>
            </a:r>
          </a:p>
          <a:p>
            <a:pPr>
              <a:defRPr sz="1200"/>
            </a:pPr>
            <a:r>
              <a:t>  `is_spam_bot_suspect` 与时间异常（`eda_section_e/`）为启发式，定性前需抽样。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Recommendations · 建议</a:t>
            </a:r>
            <a:br/>
            <a:r>
              <a:t>建议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Package: raw + cleaned exports + EDA folders + curated `reports/` spreadsheets + this deck.</a:t>
            </a:r>
          </a:p>
          <a:p>
            <a:pPr>
              <a:defRPr sz="1200"/>
            </a:pPr>
            <a:r>
              <a:t>  交付：raw/清洗导出、EDA 各目录、`reports/` 下整理的表格与本幻灯片。</a:t>
            </a:r>
          </a:p>
          <a:p>
            <a:pPr>
              <a:spcAft>
                <a:spcPts val="400"/>
              </a:spcAft>
              <a:defRPr sz="1400"/>
            </a:pPr>
            <a:r>
              <a:t>• Optional: stricter `text_hash` dedup, refine English rule, or add topic/sentiment models if mentor agrees.</a:t>
            </a:r>
          </a:p>
          <a:p>
            <a:pPr>
              <a:defRPr sz="1200"/>
            </a:pPr>
            <a:r>
              <a:t>  可选：同文去重、收紧英文规则；若 mentor 同意再上主题/情感模型。</a:t>
            </a:r>
          </a:p>
          <a:p>
            <a:pPr>
              <a:spcAft>
                <a:spcPts val="400"/>
              </a:spcAft>
              <a:defRPr sz="1400"/>
            </a:pPr>
            <a:r>
              <a:t>• Schedule a short review to align on which downstream task (dashboard / model) is priority.</a:t>
            </a:r>
          </a:p>
          <a:p>
            <a:pPr>
              <a:defRPr sz="1200"/>
            </a:pPr>
            <a:r>
              <a:t>  与 mentor 短会确认下游优先级（看板 / 模型等）。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Thank you / 谢谢</a:t>
            </a:r>
          </a:p>
          <a:p>
            <a:pPr algn="ctr">
              <a:defRPr sz="1800"/>
            </a:pPr>
            <a:r>
              <a:t>Questions &amp; next alignment welcome.</a:t>
            </a:r>
            <a:br/>
            <a:r>
              <a:t>欢迎提问与对齐下一步。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